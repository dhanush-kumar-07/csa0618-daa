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44C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/>
          <p:nvPr/>
        </p:nvSpPr>
        <p:spPr>
          <a:xfrm>
            <a:off x="9784080" y="-1280160"/>
            <a:ext cx="4389000" cy="4389000"/>
          </a:xfrm>
          <a:prstGeom prst="ellipse">
            <a:avLst/>
          </a:prstGeom>
          <a:solidFill>
            <a:srgbClr val="0A51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11247120" y="4297680"/>
            <a:ext cx="2743200" cy="2743200"/>
          </a:xfrm>
          <a:prstGeom prst="ellipse">
            <a:avLst/>
          </a:prstGeom>
          <a:solidFill>
            <a:srgbClr val="0A51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731520" y="1600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SORTING ALGORITHMS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731520" y="2011680"/>
            <a:ext cx="8229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Bubble Sort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731520" y="30175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DEA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FEDEA"/>
                </a:solidFill>
                <a:latin typeface="Calibri"/>
                <a:ea typeface="Calibri"/>
                <a:cs typeface="Calibri"/>
                <a:sym typeface="Calibri"/>
              </a:rPr>
              <a:t>A simple comparison-based sorting technique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731520" y="4617720"/>
            <a:ext cx="502800" cy="594300"/>
          </a:xfrm>
          <a:prstGeom prst="roundRect">
            <a:avLst>
              <a:gd fmla="val 7273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1399032" y="4221480"/>
            <a:ext cx="502800" cy="990600"/>
          </a:xfrm>
          <a:prstGeom prst="roundRect">
            <a:avLst>
              <a:gd fmla="val 7273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2066544" y="4815840"/>
            <a:ext cx="502800" cy="396300"/>
          </a:xfrm>
          <a:prstGeom prst="roundRect">
            <a:avLst>
              <a:gd fmla="val 9231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2734056" y="4023360"/>
            <a:ext cx="502800" cy="1188600"/>
          </a:xfrm>
          <a:prstGeom prst="roundRect">
            <a:avLst>
              <a:gd fmla="val 7273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/>
          <p:nvPr/>
        </p:nvSpPr>
        <p:spPr>
          <a:xfrm>
            <a:off x="3401568" y="5013960"/>
            <a:ext cx="502800" cy="198000"/>
          </a:xfrm>
          <a:prstGeom prst="roundRect">
            <a:avLst>
              <a:gd fmla="val 18462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4069080" y="4419600"/>
            <a:ext cx="502800" cy="792600"/>
          </a:xfrm>
          <a:prstGeom prst="roundRect">
            <a:avLst>
              <a:gd fmla="val 7273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4919472" y="44348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3D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FD3D0"/>
                </a:solidFill>
                <a:latin typeface="Calibri"/>
                <a:ea typeface="Calibri"/>
                <a:cs typeface="Calibri"/>
                <a:sym typeface="Calibri"/>
              </a:rPr>
              <a:t>→  sorted with repeated adjacent swaps  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731520" y="6035040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B6B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FB6B2"/>
                </a:solidFill>
                <a:latin typeface="Calibri"/>
                <a:ea typeface="Calibri"/>
                <a:cs typeface="Calibri"/>
                <a:sym typeface="Calibri"/>
              </a:rPr>
              <a:t>Working Principle  •  Step-by-Step Example  •  Complexity  •  Pros &amp; Cons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D3D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D3D0"/>
                </a:solidFill>
                <a:latin typeface="Calibri"/>
                <a:ea typeface="Calibri"/>
                <a:cs typeface="Calibri"/>
                <a:sym typeface="Calibri"/>
              </a:rPr>
              <a:t>1 /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6215243" y="5760739"/>
            <a:ext cx="134418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Dhanush Kumar R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192411215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CSA0618- Design and analysis of algorithm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Bubble Sort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compare adjacent elements and swap them if out of order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5819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9280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each pair of adjacent elements in the array, left to right.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6334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94436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left element is greater than the right, swap their positions.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6850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Up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99592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unsorted element "bubbles" to its correct position each pass.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54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7365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04748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full pass until no swaps are needed — the array is sorted.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160020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01444C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219456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0 to n-1: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j = 0 to n-i-2: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arr[j] &gt; arr[j+1]: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swap(arr[j], arr[j+1])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629400" y="3886200"/>
            <a:ext cx="4709160" cy="0"/>
          </a:xfrm>
          <a:prstGeom prst="line">
            <a:avLst/>
          </a:prstGeom>
          <a:noFill/>
          <a:ln w="12700">
            <a:solidFill>
              <a:srgbClr val="0A51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06908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loop: number of passes (n-1 total).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loop: shrinks each pass — the tail is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sorted, so it's skipped.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Example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[5, 1, 4, 2, 8] in ascending order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compare index 0 &amp; 1 → 5 &gt; 1, swap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35608" y="15544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35608" y="1554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22576" y="15544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1F8F7"/>
          </a:solidFill>
          <a:ln w="12700">
            <a:solidFill>
              <a:srgbClr val="CB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22576" y="1554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9544" y="15544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1F8F7"/>
          </a:solidFill>
          <a:ln w="12700">
            <a:solidFill>
              <a:srgbClr val="CBE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9544" y="1554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096512" y="15544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1F8F7"/>
          </a:solidFill>
          <a:ln w="12700">
            <a:solidFill>
              <a:srgbClr val="CBE3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96512" y="1554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5 &amp; 4 → swap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1F8F7"/>
          </a:solidFill>
          <a:ln w="12700">
            <a:solidFill>
              <a:srgbClr val="CBE3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06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35608" y="26060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35608" y="2606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322576" y="26060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22576" y="2606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209544" y="26060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1F8F7"/>
          </a:solidFill>
          <a:ln w="12700">
            <a:solidFill>
              <a:srgbClr val="CBE3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9544" y="2606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096512" y="26060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1F8F7"/>
          </a:solidFill>
          <a:ln w="12700">
            <a:solidFill>
              <a:srgbClr val="CBE3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96512" y="2606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864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5 &amp; 2 → swap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65760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1F8F7"/>
          </a:solidFill>
          <a:ln w="12700">
            <a:solidFill>
              <a:srgbClr val="CBE3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657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435608" y="365760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1F8F7"/>
          </a:solidFill>
          <a:ln w="12700">
            <a:solidFill>
              <a:srgbClr val="CBE3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35608" y="3657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322576" y="365760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22576" y="3657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209544" y="365760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9544" y="3657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096512" y="365760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1F8F7"/>
          </a:solidFill>
          <a:ln w="12700">
            <a:solidFill>
              <a:srgbClr val="CBE3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96512" y="3657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864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5 &amp; 8 → no swap. Pass 1 done — 8 is in place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470916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1F8F7"/>
          </a:solidFill>
          <a:ln w="12700">
            <a:solidFill>
              <a:srgbClr val="CBE3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709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435608" y="470916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1F8F7"/>
          </a:solidFill>
          <a:ln w="12700">
            <a:solidFill>
              <a:srgbClr val="CBE3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35608" y="4709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2322576" y="470916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1F8F7"/>
          </a:solidFill>
          <a:ln w="12700">
            <a:solidFill>
              <a:srgbClr val="CBE3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22576" y="4709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3209544" y="470916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9544" y="4709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096512" y="470916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96512" y="4709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6309360" y="580644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01444C"/>
          </a:solidFill>
          <a:ln/>
        </p:spPr>
      </p:sp>
      <p:sp>
        <p:nvSpPr>
          <p:cNvPr id="49" name="Text 47"/>
          <p:cNvSpPr/>
          <p:nvPr/>
        </p:nvSpPr>
        <p:spPr>
          <a:xfrm>
            <a:off x="6309360" y="580644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4 passes → [1, 2, 4, 5, 8]  (fully sorted)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 drive both time and space behavior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1F8F7"/>
          </a:solidFill>
          <a:ln w="12700">
            <a:solidFill>
              <a:srgbClr val="CBE3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already sorted — one pass with no swaps (using an early-exit flag).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1F8F7"/>
          </a:solidFill>
          <a:ln w="12700">
            <a:solidFill>
              <a:srgbClr val="CBE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1031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0" y="27889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in random order — roughly n²/2 comparisons and swaps.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1F8F7"/>
          </a:solidFill>
          <a:ln w="12700">
            <a:solidFill>
              <a:srgbClr val="CBE3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66760" y="21031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366760" y="27889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sorted in reverse — every pair is compared and swapped.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1444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9319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Complexity: O(1)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393192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happens in-place — only a constant amount of extra memory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used for swapping, regardless of array size.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1F8F7"/>
          </a:solidFill>
          <a:ln w="12700">
            <a:solidFill>
              <a:srgbClr val="CBE3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57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Sort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577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elements keep their original relative order after sorting.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51206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1F8F7"/>
          </a:solidFill>
          <a:ln w="12700">
            <a:solidFill>
              <a:srgbClr val="CBE3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5257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Comparisons: n(n-1)/2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5577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pairwise comparisons across all passes in the worst case.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4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3657600" cy="3657600"/>
          </a:xfrm>
          <a:prstGeom prst="ellipse">
            <a:avLst/>
          </a:prstGeom>
          <a:solidFill>
            <a:srgbClr val="0A51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Pros, Cons &amp; 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bubble sort is worth using — and when it isn't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0A515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39572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25856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understand and implement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0540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91693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— preserves order of equal elements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71246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57530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— needs only O(1) extra space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37083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23367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with early-exit flag → O(n) on nearly sorted data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69164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0A5158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46520" y="2395728"/>
            <a:ext cx="109728" cy="109728"/>
          </a:xfrm>
          <a:prstGeom prst="ellipse">
            <a:avLst/>
          </a:prstGeom>
          <a:solidFill>
            <a:srgbClr val="FF9B85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25856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time makes it slow for large datasets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46520" y="3054096"/>
            <a:ext cx="109728" cy="109728"/>
          </a:xfrm>
          <a:prstGeom prst="ellipse">
            <a:avLst/>
          </a:prstGeom>
          <a:solidFill>
            <a:srgbClr val="FF9B85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91693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Outperformed by merge sort, quicksort in practice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46520" y="3712464"/>
            <a:ext cx="109728" cy="109728"/>
          </a:xfrm>
          <a:prstGeom prst="ellipse">
            <a:avLst/>
          </a:prstGeom>
          <a:solidFill>
            <a:srgbClr val="FF9B85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57530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redundant comparisons on random data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46520" y="4370832"/>
            <a:ext cx="109728" cy="109728"/>
          </a:xfrm>
          <a:prstGeom prst="ellipse">
            <a:avLst/>
          </a:prstGeom>
          <a:solidFill>
            <a:srgbClr val="FF9B8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3367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used outside teaching and small inputs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3492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Bubble sort favors simplicity over speed — great for learning sorting logic, but not for production-scale data.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